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8" r:id="rId21"/>
    <p:sldId id="258" r:id="rId5"/>
    <p:sldId id="269" r:id="rId22"/>
    <p:sldId id="259" r:id="rId6"/>
    <p:sldId id="260" r:id="rId7"/>
    <p:sldId id="263" r:id="rId8"/>
    <p:sldId id="270" r:id="rId23"/>
    <p:sldId id="264" r:id="rId9"/>
    <p:sldId id="271" r:id="rId24"/>
    <p:sldId id="265" r:id="rId10"/>
    <p:sldId id="272" r:id="rId25"/>
    <p:sldId id="273" r:id="rId26"/>
    <p:sldId id="274" r:id="rId27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22831"/>
                </a:solidFill>
              </a:rPr>
              <a:t>Average delivery time per zone (minutes)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minutes</c:v>
                </c:pt>
              </c:strCache>
            </c:strRef>
          </c:tx>
          <c:spPr>
            <a:solidFill>
              <a:srgbClr val="A6192E"/>
            </a:solidFill>
          </c:spP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55.0</c:v>
                </c:pt>
                <c:pt idx="1">
                  <c:v>26.5</c:v>
                </c:pt>
                <c:pt idx="2">
                  <c:v>40.7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22283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8DD"/>
            </a:solidFill>
          </a:ln>
        </c:spPr>
        <c:txPr>
          <a:bodyPr/>
          <a:lstStyle/>
          <a:p>
            <a:pPr>
              <a:defRPr sz="1200">
                <a:solidFill>
                  <a:srgbClr val="22283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8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67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project is a courier booking and tracking system. Besides what the system does, I will show which Java concepts from our 12-week course power each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parcel has a journey: booking, transit, delivery. The system records every step so customers and staff see the same truth. In Java terms it is input → process → output (Week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audience: how would you find one parcel in a pile of paper slips? That pain is what we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objectives, each maps to a feature we build. Scope keeps the project realistic.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Before coding we wrote this as pseudocode and a flowchart and tested it on paper (Week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modules, three kinds of users. Each module later becomes a Java class or a group of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charge ladder is an if-ladder: first matching rule wins. The status switch only allows forward movement. The menu is a do-while loop that keeps running until the staff member chooses Exit. Values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Recursion needs a base case and a smaller subproblem. Digit sum of n is the last digit plus the digit sum of the rest. Repeat until one digit remains. Example: 10245 has digit sum 12, then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of this table becomes a field in a Java class. Making fields private protects the data (encapsulation, Week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Bundle data with the behaviour that acts on it. Shipment HAS-A sender and receiver (composition). Express and Standard ARE shipments (inheritance). Notifiable is a contract any alert type can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Arrays are fixed size, so real systems use collections. A HashMap finds a shipment by tracking ID without scanning every record. A file keeps the data after the program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data is messy. We validate, fail clearly, and always close files. Money: floating point is imprecise, so charges need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stream describes the result: source, filter, group, collect. These numbers come from a sample delivery log of 8 deliveries. East, North and South are delivery zones. Collections (HashMap by ID, HashSet, ArrayDeque, Comparator) are shown in the CO 5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a summary: every week contributes one piece of the finished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benefits, two lines each. Pick two to stress for your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possible additions, not part of the current project. The current version stays focused on booking, tracking ID, stored records and status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one organized process, built on twelve weeks of Java.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Courier Delivery &amp; Tracking System</a:t>
            </a:r>
            <a:br>
              <a:rPr lang="en-IN" dirty="0"/>
            </a:br>
            <a:r>
              <a:rPr lang="en-IN" dirty="0"/>
              <a:t>Team 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IN" dirty="0" i="1">
                <a:solidFill>
                  <a:srgbClr val="A6192E"/>
                </a:solidFill>
              </a:rPr>
              <a:t>Problem Solving Using Programming (Java)</a:t>
            </a:r>
          </a:p>
          <a:p>
            <a:r>
              <a:rPr lang="en-IN" dirty="0"/>
              <a:t>Student Name 	Roll No</a:t>
            </a:r>
          </a:p>
          <a:p>
            <a:r>
              <a:rPr lang="en-IN" dirty="0"/>
              <a:t>Student Name 	Roll No</a:t>
            </a:r>
          </a:p>
          <a:p>
            <a:r>
              <a:rPr lang="en-IN" dirty="0"/>
              <a:t>Student Name 	Roll No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1248" y="1691640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22831"/>
                </a:solidFill>
              </a:rPr>
              <a:t>The Courier Delivery and Tracking System is a Java application that organizes a parcel's journey — from booking to final delivery — so customers and staff see the same, up-to-date record.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500" b="0" i="0">
                <a:solidFill>
                  <a:srgbClr val="222831"/>
                </a:solidFill>
              </a:rPr>
              <a:t>Stores sender, receiver and parcel information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500" b="0" i="0">
                <a:solidFill>
                  <a:srgbClr val="222831"/>
                </a:solidFill>
              </a:rPr>
              <a:t>Assigns a unique tracking ID (with a check digit) to each shipment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500" b="0" i="0">
                <a:solidFill>
                  <a:srgbClr val="222831"/>
                </a:solidFill>
              </a:rPr>
              <a:t>Displays shipment progress and delivery status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500" b="0" i="0">
                <a:solidFill>
                  <a:srgbClr val="222831"/>
                </a:solidFill>
              </a:rPr>
              <a:t>Saves records to a file so data survives restarts</a:t>
            </a:r>
          </a:p>
          <a:p>
            <a:pPr>
              <a:spcAft>
                <a:spcPts val="0"/>
              </a:spcAft>
            </a:pPr>
            <a:r>
              <a:rPr sz="1400" b="0" i="1">
                <a:solidFill>
                  <a:srgbClr val="5F6670"/>
                </a:solidFill>
              </a:rPr>
              <a:t>Built step by step from the course's Java fundamentals: control flow, methods, recursion, objects, collections, files and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493008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INPUT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Booking details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10344" y="2624328"/>
            <a:ext cx="0" cy="237744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63840" y="2880360"/>
            <a:ext cx="3493008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7F79"/>
                </a:solidFill>
              </a:rPr>
              <a:t>PROCESS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Validate, assign ID, update status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10344" y="3858768"/>
            <a:ext cx="0" cy="237744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63840" y="4114800"/>
            <a:ext cx="3493008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8E04"/>
                </a:solidFill>
              </a:rPr>
              <a:t>OUTPUT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Receipt, status, reports</a:t>
            </a:r>
          </a:p>
        </p:txBody>
      </p:sp>
      <p:sp>
        <p:nvSpPr>
          <p:cNvPr id="12" name="Callout"/>
          <p:cNvSpPr/>
          <p:nvPr/>
        </p:nvSpPr>
        <p:spPr>
          <a:xfrm>
            <a:off x="841248" y="5623560"/>
            <a:ext cx="10515600" cy="45720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BOOK  •  TRACK  •  DELIVER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Challenges in a manual courier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332232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Lost or incorrect records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Paper records may be misplaced or details entered incorrectly.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7888" y="1828800"/>
            <a:ext cx="332232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Limited tracking updates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Customers must contact staff to learn where a parcel 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4528" y="1828800"/>
            <a:ext cx="332232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Time-consuming work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Staff spend extra time searching for details and updating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520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Why programming helps: </a:t>
            </a:r>
            <a:r>
              <a:rPr sz="1600" b="0" i="0">
                <a:solidFill>
                  <a:srgbClr val="222831"/>
                </a:solidFill>
              </a:rPr>
              <a:t>real feeds contain blank lines, missing fields and bad values — so the system must validate input, not assume it is perfect.</a:t>
            </a:r>
          </a:p>
        </p:txBody>
      </p:sp>
      <p:sp>
        <p:nvSpPr>
          <p:cNvPr id="11" name="Callout"/>
          <p:cNvSpPr/>
          <p:nvPr/>
        </p:nvSpPr>
        <p:spPr>
          <a:xfrm>
            <a:off x="841248" y="475488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Solution: keep digital shipment records and make tracking information easy to reach.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Specification, pseudocode &amp; flowchart · types, Scanner, printf (Weeks 1–2) — system workflow</a:t>
            </a:r>
          </a:p>
        </p:txBody>
      </p:sp>
      <p:sp>
        <p:nvSpPr>
          <p:cNvPr id="7" name="Oval 6"/>
          <p:cNvSpPr/>
          <p:nvPr/>
        </p:nvSpPr>
        <p:spPr>
          <a:xfrm>
            <a:off x="1572767" y="1828800"/>
            <a:ext cx="640080" cy="640080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04288" y="2148840"/>
            <a:ext cx="1280159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6968" y="2560320"/>
            <a:ext cx="2011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22831"/>
                </a:solidFill>
              </a:rPr>
              <a:t>Enter details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F6670"/>
                </a:solidFill>
              </a:rPr>
              <a:t>Sender + receiver + parcel</a:t>
            </a:r>
          </a:p>
        </p:txBody>
      </p:sp>
      <p:sp>
        <p:nvSpPr>
          <p:cNvPr id="10" name="Oval 9"/>
          <p:cNvSpPr/>
          <p:nvPr/>
        </p:nvSpPr>
        <p:spPr>
          <a:xfrm>
            <a:off x="3675887" y="1828800"/>
            <a:ext cx="640080" cy="64008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7407" y="2148840"/>
            <a:ext cx="1280160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90087" y="2560320"/>
            <a:ext cx="2011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22831"/>
                </a:solidFill>
              </a:rPr>
              <a:t>Book shipment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F6670"/>
                </a:solidFill>
              </a:rPr>
              <a:t>Validate &amp; save record</a:t>
            </a:r>
          </a:p>
        </p:txBody>
      </p:sp>
      <p:sp>
        <p:nvSpPr>
          <p:cNvPr id="13" name="Oval 12"/>
          <p:cNvSpPr/>
          <p:nvPr/>
        </p:nvSpPr>
        <p:spPr>
          <a:xfrm>
            <a:off x="5779008" y="1828800"/>
            <a:ext cx="640080" cy="640080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10528" y="2148840"/>
            <a:ext cx="1280160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93207" y="2560320"/>
            <a:ext cx="2011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22831"/>
                </a:solidFill>
              </a:rPr>
              <a:t>Get tracking ID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F6670"/>
                </a:solidFill>
              </a:rPr>
              <a:t>Unique ID with check digit</a:t>
            </a:r>
          </a:p>
        </p:txBody>
      </p:sp>
      <p:sp>
        <p:nvSpPr>
          <p:cNvPr id="16" name="Oval 15"/>
          <p:cNvSpPr/>
          <p:nvPr/>
        </p:nvSpPr>
        <p:spPr>
          <a:xfrm>
            <a:off x="7882127" y="1828800"/>
            <a:ext cx="640080" cy="64008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13647" y="2148840"/>
            <a:ext cx="1280161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96327" y="2560320"/>
            <a:ext cx="2011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22831"/>
                </a:solidFill>
              </a:rPr>
              <a:t>Track shipment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F6670"/>
                </a:solidFill>
              </a:rPr>
              <a:t>Search by tracking ID</a:t>
            </a:r>
          </a:p>
        </p:txBody>
      </p:sp>
      <p:sp>
        <p:nvSpPr>
          <p:cNvPr id="19" name="Oval 18"/>
          <p:cNvSpPr/>
          <p:nvPr/>
        </p:nvSpPr>
        <p:spPr>
          <a:xfrm>
            <a:off x="9985248" y="1828800"/>
            <a:ext cx="640080" cy="640080"/>
          </a:xfrm>
          <a:prstGeom prst="ellipse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560320"/>
            <a:ext cx="2011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22831"/>
                </a:solidFill>
              </a:rPr>
              <a:t>View status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F6670"/>
                </a:solidFill>
              </a:rPr>
              <a:t>See latest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657600"/>
            <a:ext cx="603504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Test-first: write expected results before the code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Example — input: booking for 2.5 kg → output: ID issued, status BOOKED.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Edge case: missing receiver phone → reject with a clear message.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Workflow first written as pseudocode and a flowchart, then tested on paper.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7" y="365760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794760"/>
            <a:ext cx="38404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B7F79"/>
                </a:solidFill>
              </a:rPr>
              <a:t>EXAMPLE TRACKING RESULT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22831"/>
                </a:solidFill>
              </a:rPr>
              <a:t>Tracking ID: </a:t>
            </a:r>
            <a:r>
              <a:rPr sz="1600" b="1" i="0">
                <a:solidFill>
                  <a:srgbClr val="A6192E"/>
                </a:solidFill>
                <a:latin typeface="Courier New"/>
              </a:rPr>
              <a:t>CT10245-3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22831"/>
                </a:solidFill>
              </a:rPr>
              <a:t>Status: </a:t>
            </a:r>
            <a:r>
              <a:rPr sz="1600" b="0" i="0">
                <a:solidFill>
                  <a:srgbClr val="222831"/>
                </a:solidFill>
              </a:rPr>
              <a:t>In Transit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22831"/>
                </a:solidFill>
              </a:rPr>
              <a:t>Expected delivery: </a:t>
            </a:r>
            <a:r>
              <a:rPr sz="1600" b="0" i="0">
                <a:solidFill>
                  <a:srgbClr val="222831"/>
                </a:solidFill>
              </a:rPr>
              <a:t>18 Oct (sample)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Decision logic &amp; repetition — if, switch, decision tables, loops (Weeks 3–4)</a:t>
            </a:r>
          </a:p>
        </p:txBody>
      </p:sp>
      <p:sp>
        <p:nvSpPr>
          <p:cNvPr id="7" name="Code"/>
          <p:cNvSpPr/>
          <p:nvPr/>
        </p:nvSpPr>
        <p:spPr>
          <a:xfrm>
            <a:off x="841248" y="178308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static double fee(double kg) {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if (kg &lt;= 1.0) return 40;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if (kg &lt;= 5.0) return 90;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return 150;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static String next(String s) {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switch (s) {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case "BOOKED":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  return "IN_TRANSIT";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case "IN_TRANSIT":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  return "OUT_FOR_DELIVERY";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case "OUT_FOR_DELIVERY":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  return "DELIVERED";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default: return s;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}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78308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Selection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if-ladder for the delivery charge; switch for status transitions.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32461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Repetition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do-while menu: Book · Track · Update · Exit; for-each over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470916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Methods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One job each: fee(), next(), printReceipt() — main() only orchestrates and stays short.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Methods, recursion, arrays (Weeks 5–6) — tracking ID with a check digit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A6192E"/>
                </a:solidFill>
              </a:rPr>
              <a:t>Idea: </a:t>
            </a:r>
            <a:r>
              <a:rPr sz="1500" b="0" i="0">
                <a:solidFill>
                  <a:srgbClr val="222831"/>
                </a:solidFill>
              </a:rPr>
              <a:t>add the digits of the ID; if the total has two or more digits, repeat. The final single digit is appended, so most typos fail the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017520"/>
            <a:ext cx="512064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1752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  <a:latin typeface="Courier New"/>
              </a:rPr>
              <a:t>10245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301752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5F6670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0175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831"/>
                </a:solidFill>
              </a:rPr>
              <a:t>1+0+2+4+5 =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39312"/>
            <a:ext cx="512064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39312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  <a:latin typeface="Courier New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639312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5F6670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639312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831"/>
                </a:solidFill>
              </a:rPr>
              <a:t>1+2 =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261104"/>
            <a:ext cx="512064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61104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  <a:latin typeface="Courier New"/>
              </a:rP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4261104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5F667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4261104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222831"/>
                </a:solidFill>
              </a:rPr>
              <a:t>CT10245-3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3776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Arrays (Week 6)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Fixed pickup slots held in a 2-D array; searched slot by slot.</a:t>
            </a:r>
          </a:p>
        </p:txBody>
      </p:sp>
      <p:sp>
        <p:nvSpPr>
          <p:cNvPr id="21" name="Code"/>
          <p:cNvSpPr/>
          <p:nvPr/>
        </p:nvSpPr>
        <p:spPr>
          <a:xfrm>
            <a:off x="6236208" y="1783080"/>
            <a:ext cx="5120640" cy="3246120"/>
          </a:xfrm>
          <a:prstGeom prst="roundRect">
            <a:avLst>
              <a:gd name="adj" fmla="val 8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static int digitSum(int n) {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return n == 0 ? 0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: n % 10 + digitSum(n / 10);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static int checkDigit(int n) {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int s = digitSum(n);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return s &lt; 10 ? s : checkDigit(s);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static String trackingId(int serial) {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return "CT" + serial + "-"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 xml:space="preserve">    + checkDigit(serial);</a:t>
            </a:r>
          </a:p>
          <a:p>
            <a:pPr algn="l"/>
            <a:r>
              <a:rPr sz="1300">
                <a:solidFill>
                  <a:srgbClr val="E6E9EF"/>
                </a:solidFill>
                <a:latin typeface="Courier New"/>
              </a:rPr>
              <a:t>}</a:t>
            </a:r>
          </a:p>
        </p:txBody>
      </p:sp>
      <p:sp>
        <p:nvSpPr>
          <p:cNvPr id="22" name="Callout"/>
          <p:cNvSpPr/>
          <p:nvPr/>
        </p:nvSpPr>
        <p:spPr>
          <a:xfrm>
            <a:off x="6236208" y="521208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Base case: a single digit (or n = 0). Each call works on a smaller number.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Classes &amp; encapsulation (Week 7) — information stored for each shipment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78308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Information type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Example fields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Booking details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Booking number, date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Sender details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Name, phone, pickup address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Receiver details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Name, phone, delivery address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Parcel details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Type, weight, delivery charge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Tracking details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Tracking ID, status, status date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16052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Keep records accurate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Show personal details only to authorized users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Update status whenever progress changes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Tracking ID links booking to status</a:t>
            </a:r>
          </a:p>
        </p:txBody>
      </p:sp>
      <p:sp>
        <p:nvSpPr>
          <p:cNvPr id="9" name="Code"/>
          <p:cNvSpPr/>
          <p:nvPr/>
        </p:nvSpPr>
        <p:spPr>
          <a:xfrm>
            <a:off x="6601968" y="1783080"/>
            <a:ext cx="4754880" cy="4206240"/>
          </a:xfrm>
          <a:prstGeom prst="roundRect">
            <a:avLst>
              <a:gd name="adj" fmla="val 8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>public class Shipment {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private final String trackingId;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private String status = "BOOKED";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private double weightKg;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public Shipment(String id, double kg) {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this.trackingId = id;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setWeight(kg);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}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public void setWeight(double kg) {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if (kg &lt;= 0)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  throw new IllegalArgumentException(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    "weight must be &gt; 0");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this.weightKg = kg;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}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Strings, sorting &amp; searching, files (Weeks 9–10) — storing &amp; finding shipments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783080"/>
          <a:ext cx="60350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880360"/>
                <a:gridCol w="82296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Java tool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Fixed pickup slots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2-D array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Look up by tracking ID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HashMap&lt;String, Shipment&gt;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Keep IDs unique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HashSet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Pending bookings in order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Queue / ArrayDeque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Sort by date or weight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Comparator + sort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9, 11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Find in a sorted list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Binary search, O(log n)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9–10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Save and load records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Files + BufferedReader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50608" y="178308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22831"/>
                </a:solidFill>
              </a:rPr>
              <a:t>Record format (one line per shipment)</a:t>
            </a:r>
          </a:p>
        </p:txBody>
      </p:sp>
      <p:sp>
        <p:nvSpPr>
          <p:cNvPr id="9" name="Code"/>
          <p:cNvSpPr/>
          <p:nvPr/>
        </p:nvSpPr>
        <p:spPr>
          <a:xfrm>
            <a:off x="7150608" y="2148840"/>
            <a:ext cx="4206240" cy="1051560"/>
          </a:xfrm>
          <a:prstGeom prst="roundRect">
            <a:avLst>
              <a:gd name="adj" fmla="val 8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100">
                <a:solidFill>
                  <a:srgbClr val="E6E9EF"/>
                </a:solidFill>
                <a:latin typeface="Courier New"/>
              </a:rPr>
              <a:t>CT10245,Asha,Ravi,2.5,IN_TRANSIT</a:t>
            </a:r>
          </a:p>
          <a:p>
            <a:pPr algn="l"/>
            <a:r>
              <a:rPr sz="1100">
                <a:solidFill>
                  <a:srgbClr val="E6E9EF"/>
                </a:solidFill>
                <a:latin typeface="Courier New"/>
              </a:rPr>
              <a:t>CT10246,Meera,Kiran,1.0,BOOKED</a:t>
            </a:r>
          </a:p>
          <a:p>
            <a:pPr algn="l"/>
            <a:r>
              <a:rPr sz="1100">
                <a:solidFill>
                  <a:srgbClr val="E6E9EF"/>
                </a:solidFill>
                <a:latin typeface="Courier New"/>
              </a:rPr>
              <a:t>bad-line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33832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A6192E"/>
                </a:solidFill>
              </a:rPr>
              <a:t>Load → Process → Persist</a:t>
            </a:r>
          </a:p>
        </p:txBody>
      </p:sp>
      <p:sp>
        <p:nvSpPr>
          <p:cNvPr id="11" name="Oval 10"/>
          <p:cNvSpPr/>
          <p:nvPr/>
        </p:nvSpPr>
        <p:spPr>
          <a:xfrm>
            <a:off x="7150608" y="3831336"/>
            <a:ext cx="329184" cy="329184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3794760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22831"/>
                </a:solidFill>
              </a:rPr>
              <a:t>Load: </a:t>
            </a:r>
            <a:r>
              <a:rPr sz="1400" b="0" i="0">
                <a:solidFill>
                  <a:srgbClr val="222831"/>
                </a:solidFill>
              </a:rPr>
              <a:t>read the file</a:t>
            </a:r>
          </a:p>
        </p:txBody>
      </p:sp>
      <p:sp>
        <p:nvSpPr>
          <p:cNvPr id="13" name="Oval 12"/>
          <p:cNvSpPr/>
          <p:nvPr/>
        </p:nvSpPr>
        <p:spPr>
          <a:xfrm>
            <a:off x="7150608" y="4288536"/>
            <a:ext cx="329184" cy="329184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4251960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22831"/>
                </a:solidFill>
              </a:rPr>
              <a:t>Process: </a:t>
            </a:r>
            <a:r>
              <a:rPr sz="1400" b="0" i="0">
                <a:solidFill>
                  <a:srgbClr val="222831"/>
                </a:solidFill>
              </a:rPr>
              <a:t>split, trim, validate</a:t>
            </a:r>
          </a:p>
        </p:txBody>
      </p:sp>
      <p:sp>
        <p:nvSpPr>
          <p:cNvPr id="15" name="Oval 14"/>
          <p:cNvSpPr/>
          <p:nvPr/>
        </p:nvSpPr>
        <p:spPr>
          <a:xfrm>
            <a:off x="7150608" y="4745736"/>
            <a:ext cx="329184" cy="329184"/>
          </a:xfrm>
          <a:prstGeom prst="ellipse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4709160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22831"/>
                </a:solidFill>
              </a:rPr>
              <a:t>Persist: </a:t>
            </a:r>
            <a:r>
              <a:rPr sz="1400" b="0" i="0">
                <a:solidFill>
                  <a:srgbClr val="222831"/>
                </a:solidFill>
              </a:rPr>
              <a:t>write the updated file</a:t>
            </a:r>
          </a:p>
        </p:txBody>
      </p:sp>
      <p:sp>
        <p:nvSpPr>
          <p:cNvPr id="17" name="Callout"/>
          <p:cNvSpPr/>
          <p:nvPr/>
        </p:nvSpPr>
        <p:spPr>
          <a:xfrm>
            <a:off x="841248" y="534924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Malformed lines are skipped and counted — one bad record must not crash the system.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Collections &amp; streams (Weeks 11–12) — delivery reports in a few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584959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A6192E"/>
                </a:solidFill>
              </a:rPr>
              <a:t>8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F6670"/>
                </a:solidFill>
              </a:rPr>
              <a:t>deliveries in 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9087" y="1783080"/>
            <a:ext cx="1584959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B7F79"/>
                </a:solidFill>
              </a:rPr>
              <a:t>62.5%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F6670"/>
                </a:solidFill>
              </a:rPr>
              <a:t>delivered on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6928" y="1783080"/>
            <a:ext cx="1584959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D98E04"/>
                </a:solidFill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F6670"/>
                </a:solidFill>
              </a:rPr>
              <a:t>zones compared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41248" y="297180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ode"/>
          <p:cNvSpPr/>
          <p:nvPr/>
        </p:nvSpPr>
        <p:spPr>
          <a:xfrm>
            <a:off x="6236208" y="1783080"/>
            <a:ext cx="5120640" cy="4206240"/>
          </a:xfrm>
          <a:prstGeom prst="roundRect">
            <a:avLst>
              <a:gd name="adj" fmla="val 8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>record Delivery(String courier,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String zone, int minutes,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boolean onTime) {}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>double sla = 100.0 *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log.stream()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 .filter(Delivery::onTime)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 .count() / log.size();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>Map&lt;String, Double&gt; avg =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log.stream().collect(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groupingBy(Delivery::zone,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  TreeMap::new,</a:t>
            </a:r>
          </a:p>
          <a:p>
            <a:pPr algn="l"/>
            <a:r>
              <a:rPr sz="1200">
                <a:solidFill>
                  <a:srgbClr val="E6E9EF"/>
                </a:solidFill>
                <a:latin typeface="Courier New"/>
              </a:rPr>
              <a:t xml:space="preserve">      averagingInt(Delivery::minutes)));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1248" y="169164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222831"/>
                </a:solidFill>
              </a:rPr>
              <a:t>The Courier Delivery and Tracking System brings booking, shipment records and parcel tracking into one organized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2608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A6192E"/>
              </a:buClr>
              <a:buChar char="•"/>
            </a:pPr>
            <a:r>
              <a:rPr sz="1600" b="0" i="0">
                <a:solidFill>
                  <a:srgbClr val="222831"/>
                </a:solidFill>
              </a:rPr>
              <a:t>Customers see progress; staff keep clearer records</a:t>
            </a:r>
          </a:p>
          <a:p>
            <a:pPr marL="201168" indent="-201168">
              <a:spcAft>
                <a:spcPts val="800"/>
              </a:spcAft>
              <a:buClr>
                <a:srgbClr val="A6192E"/>
              </a:buClr>
              <a:buChar char="•"/>
            </a:pPr>
            <a:r>
              <a:rPr sz="1600" b="0" i="0">
                <a:solidFill>
                  <a:srgbClr val="222831"/>
                </a:solidFill>
              </a:rPr>
              <a:t>Built from Java fundamentals: methods, objects, collections, files, streams</a:t>
            </a:r>
          </a:p>
          <a:p>
            <a:pPr marL="201168" indent="-201168">
              <a:spcAft>
                <a:spcPts val="400"/>
              </a:spcAft>
              <a:buClr>
                <a:srgbClr val="A6192E"/>
              </a:buClr>
              <a:buChar char="•"/>
            </a:pPr>
            <a:r>
              <a:rPr sz="1600" b="0" i="0">
                <a:solidFill>
                  <a:srgbClr val="222831"/>
                </a:solidFill>
              </a:rPr>
              <a:t>Designed to fail safely and grow with future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2128" y="173736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</a:rPr>
              <a:t>THANK YOU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What will the system help users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103120"/>
            <a:ext cx="548640" cy="548640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965960"/>
            <a:ext cx="40233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A6192E"/>
                </a:solidFill>
              </a:rPr>
              <a:t>Courier booking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22831"/>
                </a:solidFill>
              </a:rPr>
              <a:t>Enter sender, receiver, address, parcel type and contact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2880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9088" y="2103120"/>
            <a:ext cx="548640" cy="548640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7" y="1965960"/>
            <a:ext cx="40233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A6192E"/>
                </a:solidFill>
              </a:rPr>
              <a:t>Tracking 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22831"/>
                </a:solidFill>
              </a:rPr>
              <a:t>A unique ID identifies and retrieves a shipment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15468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429000"/>
            <a:ext cx="548640" cy="548640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291840"/>
            <a:ext cx="40233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A6192E"/>
                </a:solidFill>
              </a:rPr>
              <a:t>Status management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22831"/>
                </a:solidFill>
              </a:rPr>
              <a:t>Booked → In Transit → Out for Delivery → Delivered.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315468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9088" y="3429000"/>
            <a:ext cx="548640" cy="548640"/>
          </a:xfrm>
          <a:prstGeom prst="ellipse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7" y="3291840"/>
            <a:ext cx="40233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A6192E"/>
                </a:solidFill>
              </a:rPr>
              <a:t>Organized records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22831"/>
                </a:solidFill>
              </a:rPr>
              <a:t>Booking and delivery information stored for easy reference.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57200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In scope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Booking details, shipment records, status tracking, saving/loading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57200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Out of scope (for now)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Payments, GPS, SMS/email.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1 Topics (contd.)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Main modules &amp; users — who uses the system and what each part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332232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Customer / Booking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Provides sender, receiver and parcel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7888" y="1828800"/>
            <a:ext cx="332232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Courier Staff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Reviews bookings and updates shipment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4528" y="1828800"/>
            <a:ext cx="332232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Tracking Module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Finds a shipment using its tracking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18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22831"/>
                </a:solidFill>
              </a:rPr>
              <a:t>CUSTOMER books  →  STAFF updates status  →  CUSTOMER tracks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77639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22831"/>
                </a:solidFill>
              </a:rPr>
              <a:t>Possible delivery statuses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40233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Booked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12664" y="4251960"/>
            <a:ext cx="201167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50408" y="40233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In Transit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78624" y="4251960"/>
            <a:ext cx="201168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16367" y="40233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Out for Delivery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44583" y="4251960"/>
            <a:ext cx="201168" cy="0"/>
          </a:xfrm>
          <a:prstGeom prst="line">
            <a:avLst/>
          </a:prstGeom>
          <a:ln w="19050">
            <a:solidFill>
              <a:srgbClr val="5F66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82328" y="40233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22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Delivered</a:t>
            </a:r>
          </a:p>
        </p:txBody>
      </p:sp>
      <p:sp>
        <p:nvSpPr>
          <p:cNvPr id="19" name="Callout"/>
          <p:cNvSpPr/>
          <p:nvPr/>
        </p:nvSpPr>
        <p:spPr>
          <a:xfrm>
            <a:off x="841248" y="4937760"/>
            <a:ext cx="10515600" cy="50292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Each status can only move forward — enforced in code with a switch (see CO 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4 Topics (contd.)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Inheritance, interfaces &amp; exceptions (Week 8) — object-oriented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874519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Customer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name, phone,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10328" y="1874519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Shipment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id, status, weight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5088" y="1874519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«interface» Notifiable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notify(message)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511296" y="2308860"/>
            <a:ext cx="1380744" cy="0"/>
          </a:xfrm>
          <a:prstGeom prst="line">
            <a:avLst/>
          </a:prstGeom>
          <a:ln w="19050">
            <a:solidFill>
              <a:srgbClr val="2228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93008" y="1979676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670"/>
                </a:solidFill>
              </a:rPr>
              <a:t>has-a (composition)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06056" y="2308860"/>
            <a:ext cx="1380744" cy="0"/>
          </a:xfrm>
          <a:prstGeom prst="line">
            <a:avLst/>
          </a:prstGeom>
          <a:ln w="19050">
            <a:solidFill>
              <a:srgbClr val="22283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87768" y="1943100"/>
            <a:ext cx="1417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F6670"/>
                </a:solidFill>
              </a:rPr>
              <a:t>uses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34290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22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StandardShipment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extends Shipment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4808" y="34290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22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ExpressShipment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extends, faster fee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544568" y="2761488"/>
            <a:ext cx="1188720" cy="649224"/>
          </a:xfrm>
          <a:prstGeom prst="line">
            <a:avLst/>
          </a:prstGeom>
          <a:ln w="19050">
            <a:solidFill>
              <a:srgbClr val="2228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464808" y="2761488"/>
            <a:ext cx="1188720" cy="649224"/>
          </a:xfrm>
          <a:prstGeom prst="line">
            <a:avLst/>
          </a:prstGeom>
          <a:ln w="19050">
            <a:solidFill>
              <a:srgbClr val="2228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4526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5F6670"/>
                </a:solidFill>
              </a:rPr>
              <a:t>SmsNotifier and EmailNotifier would implement Notifiable — future alerts slot in without changing Shipment (Open–Closed principle).</a:t>
            </a:r>
          </a:p>
        </p:txBody>
      </p:sp>
      <p:sp>
        <p:nvSpPr>
          <p:cNvPr id="19" name="Callout"/>
          <p:cNvSpPr/>
          <p:nvPr/>
        </p:nvSpPr>
        <p:spPr>
          <a:xfrm>
            <a:off x="841248" y="525780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Custom exception: InvalidTrackingIdException — failure becomes explicit and impossible to ignore.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5 Topics (contd.)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Validation, exceptions &amp; safe file handling (Weeks 2, 8, 10) — making it reliable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332232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Validate input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trim every field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skip blank lines (isBlank)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check field count before indexing</a:t>
            </a:r>
          </a:p>
          <a:p>
            <a:pPr marL="201168" indent="-201168">
              <a:spcAft>
                <a:spcPts val="300"/>
              </a:spcAft>
              <a:buClr>
                <a:srgbClr val="A6192E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guard parseInt / parseDouble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7888" y="1783080"/>
            <a:ext cx="332232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Fail clearly</a:t>
            </a:r>
          </a:p>
          <a:p>
            <a:pPr marL="201168" indent="-201168">
              <a:spcAft>
                <a:spcPts val="300"/>
              </a:spcAft>
              <a:buClr>
                <a:srgbClr val="1B7F79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throw custom exceptions</a:t>
            </a:r>
          </a:p>
          <a:p>
            <a:pPr marL="201168" indent="-201168">
              <a:spcAft>
                <a:spcPts val="300"/>
              </a:spcAft>
              <a:buClr>
                <a:srgbClr val="1B7F79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catch NumberFormatException and recover</a:t>
            </a:r>
          </a:p>
          <a:p>
            <a:pPr marL="201168" indent="-201168">
              <a:spcAft>
                <a:spcPts val="300"/>
              </a:spcAft>
              <a:buClr>
                <a:srgbClr val="1B7F79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fail fast on invalid state</a:t>
            </a:r>
          </a:p>
          <a:p>
            <a:pPr marL="201168" indent="-201168">
              <a:spcAft>
                <a:spcPts val="300"/>
              </a:spcAft>
              <a:buClr>
                <a:srgbClr val="1B7F79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handle IOException for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4528" y="1783080"/>
            <a:ext cx="332232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Release resources</a:t>
            </a:r>
          </a:p>
          <a:p>
            <a:pPr marL="201168" indent="-201168">
              <a:spcAft>
                <a:spcPts val="300"/>
              </a:spcAft>
              <a:buClr>
                <a:srgbClr val="D98E04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try-with-resources closes files automatically</a:t>
            </a:r>
          </a:p>
          <a:p>
            <a:pPr marL="201168" indent="-201168">
              <a:spcAft>
                <a:spcPts val="300"/>
              </a:spcAft>
              <a:buClr>
                <a:srgbClr val="D98E04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…even when an exception occurs</a:t>
            </a:r>
          </a:p>
          <a:p>
            <a:pPr marL="201168" indent="-201168">
              <a:spcAft>
                <a:spcPts val="300"/>
              </a:spcAft>
              <a:buClr>
                <a:srgbClr val="D98E04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finally only for other cleanup</a:t>
            </a:r>
          </a:p>
          <a:p>
            <a:pPr marL="201168" indent="-201168">
              <a:spcAft>
                <a:spcPts val="300"/>
              </a:spcAft>
              <a:buClr>
                <a:srgbClr val="D98E04"/>
              </a:buClr>
              <a:buChar char="•"/>
            </a:pPr>
            <a:r>
              <a:rPr sz="1400" b="0" i="0">
                <a:solidFill>
                  <a:srgbClr val="222831"/>
                </a:solidFill>
              </a:rPr>
              <a:t>never return from finally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22831"/>
                </a:solidFill>
              </a:rPr>
              <a:t>Bad-line strategies: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43891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Fail-fast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96128" y="43891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Skip-and-log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43891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Dead-letter file</a:t>
            </a:r>
          </a:p>
        </p:txBody>
      </p:sp>
      <p:sp>
        <p:nvSpPr>
          <p:cNvPr id="14" name="Callout"/>
          <p:cNvSpPr/>
          <p:nvPr/>
        </p:nvSpPr>
        <p:spPr>
          <a:xfrm>
            <a:off x="841248" y="516636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Never swallow errors silently — a half-broken feed gives plausible but wrong numbers.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Concepts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Where each week of the course appears in this project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783080"/>
          <a:ext cx="51206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423160"/>
                <a:gridCol w="219456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Wk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Specify, pseudocode, flowchart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Workflow and test cases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Types, Scanner, printf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Booking form and receipt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if, switch, decision tables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Charge and status rules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Loops, patterns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Staff menu, batch updates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Methods, recursion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Check-digit tracking ID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Arrays, 2-D arrays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Pickup slots, searching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6207" y="1783080"/>
          <a:ext cx="51206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423160"/>
                <a:gridCol w="219456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Wk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 marL="91440" marR="91440" marT="27432" marB="27432" anchor="ctr">
                    <a:solidFill>
                      <a:srgbClr val="A619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Classes, encapsulation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Shipment, Customer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Inheritance, interfaces, exceptions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Express/Standard, Notifiable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Strings, sorting, search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Parse labels, sort records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Files, try-with-resources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Save and load shipments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Collections, Comparator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Map by ID, queues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831"/>
                          </a:solidFill>
                        </a:rPr>
                        <a:t>12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Streams, Collectors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</a:rPr>
                        <a:t>Delivery analytics</a:t>
                      </a:r>
                    </a:p>
                  </a:txBody>
                  <a:tcPr marL="91440" marR="91440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Expected benefits of the proposed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332232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Saves time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Shipment details found quickly.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7888" y="1783080"/>
            <a:ext cx="332232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Improves visibility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Customers check the latest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4528" y="1783080"/>
            <a:ext cx="332232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Reduces paperwork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Digital records are easier to organize.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91839"/>
            <a:ext cx="332232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Supports staff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Updates are maintained consistently.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7888" y="3291839"/>
            <a:ext cx="332232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Improves communication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Customers and staff share one tracking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4528" y="3291839"/>
            <a:ext cx="332232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Can be expanded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831"/>
                </a:solidFill>
              </a:rPr>
              <a:t>Future alerts, payments and live maps.</a:t>
            </a:r>
          </a:p>
        </p:txBody>
      </p:sp>
      <p:sp>
        <p:nvSpPr>
          <p:cNvPr id="13" name="Callout"/>
          <p:cNvSpPr/>
          <p:nvPr/>
        </p:nvSpPr>
        <p:spPr>
          <a:xfrm>
            <a:off x="841248" y="502920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Simple  •  Organized  •  Trackable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Subtitle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5F6670"/>
                </a:solidFill>
              </a:rPr>
              <a:t>Features for a future version, and the Java idea behind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332232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6192E"/>
                </a:solidFill>
              </a:rPr>
              <a:t>Automatic notifications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831"/>
                </a:solidFill>
              </a:rPr>
              <a:t>SMS or email when status changes.</a:t>
            </a: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A6192E"/>
                </a:solidFill>
              </a:rPr>
              <a:t>Java: </a:t>
            </a:r>
            <a:r>
              <a:rPr sz="1400" b="0" i="0">
                <a:solidFill>
                  <a:srgbClr val="222831"/>
                </a:solidFill>
              </a:rPr>
              <a:t>Implement the Notifiable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7888" y="1783080"/>
            <a:ext cx="332232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F79"/>
                </a:solidFill>
              </a:rPr>
              <a:t>Live location tracking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831"/>
                </a:solidFill>
              </a:rPr>
              <a:t>Courier position if GPS and mapping are integrated.</a:t>
            </a: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1B7F79"/>
                </a:solidFill>
              </a:rPr>
              <a:t>Java: </a:t>
            </a:r>
            <a:r>
              <a:rPr sz="1400" b="0" i="0">
                <a:solidFill>
                  <a:srgbClr val="222831"/>
                </a:solidFill>
              </a:rPr>
              <a:t>Add a Location field to Shipment.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4528" y="1783080"/>
            <a:ext cx="332232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8E04"/>
                </a:solidFill>
              </a:rPr>
              <a:t>Online payment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831"/>
                </a:solidFill>
              </a:rPr>
              <a:t>Customers pay delivery charges online.</a:t>
            </a: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D98E04"/>
                </a:solidFill>
              </a:rPr>
              <a:t>Java: </a:t>
            </a:r>
            <a:r>
              <a:rPr sz="1400" b="0" i="0">
                <a:solidFill>
                  <a:srgbClr val="222831"/>
                </a:solidFill>
              </a:rPr>
              <a:t>A PricingStrategy (lambda) per service type.</a:t>
            </a:r>
          </a:p>
        </p:txBody>
      </p:sp>
      <p:sp>
        <p:nvSpPr>
          <p:cNvPr id="10" name="Callout"/>
          <p:cNvSpPr/>
          <p:nvPr/>
        </p:nvSpPr>
        <p:spPr>
          <a:xfrm>
            <a:off x="841248" y="448056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A6192E"/>
                </a:solidFill>
              </a:rPr>
              <a:t>A basic version starts with booking, tracking ID, stored records and status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